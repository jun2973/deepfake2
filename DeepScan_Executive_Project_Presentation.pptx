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e3c76467041ab" /><Relationship Type="http://schemas.openxmlformats.org/officeDocument/2006/relationships/extended-properties" Target="/docProps/app.xml" Id="R4b91134eea0041b8" /><Relationship Type="http://schemas.openxmlformats.org/officeDocument/2006/relationships/officeDocument" Target="/ppt/presentation.xml" Id="R11db6bcf4eb245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3833aba09241ec"/>
  </p:sldMasterIdLst>
  <p:notesMasterIdLst>
    <p:notesMasterId xmlns:r="http://schemas.openxmlformats.org/officeDocument/2006/relationships" r:id="R35260cf99e0e4c86"/>
  </p:notesMasterIdLst>
  <p:sldIdLst>
    <p:sldId xmlns:r="http://schemas.openxmlformats.org/officeDocument/2006/relationships" id="256" r:id="R678bb24e26694430"/>
    <p:sldId xmlns:r="http://schemas.openxmlformats.org/officeDocument/2006/relationships" id="257" r:id="R0967a092dee146d2"/>
    <p:sldId xmlns:r="http://schemas.openxmlformats.org/officeDocument/2006/relationships" id="258" r:id="R9274ffec8d0d49b7"/>
    <p:sldId xmlns:r="http://schemas.openxmlformats.org/officeDocument/2006/relationships" id="259" r:id="R84cce3272f184c40"/>
    <p:sldId xmlns:r="http://schemas.openxmlformats.org/officeDocument/2006/relationships" id="260" r:id="Rd2b09add538147c5"/>
    <p:sldId xmlns:r="http://schemas.openxmlformats.org/officeDocument/2006/relationships" id="261" r:id="Ra9d426f34bbd437e"/>
    <p:sldId xmlns:r="http://schemas.openxmlformats.org/officeDocument/2006/relationships" id="262" r:id="R63b2b01342ff45f2"/>
    <p:sldId xmlns:r="http://schemas.openxmlformats.org/officeDocument/2006/relationships" id="263" r:id="Rbd16ef8ee4ec47eb"/>
    <p:sldId xmlns:r="http://schemas.openxmlformats.org/officeDocument/2006/relationships" id="264" r:id="R68b943679ae848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358bf2c376436f" /><Relationship Type="http://schemas.openxmlformats.org/officeDocument/2006/relationships/slideMaster" Target="/ppt/slideMasters/slideMaster1.xml" Id="R893833aba09241ec" /><Relationship Type="http://schemas.openxmlformats.org/officeDocument/2006/relationships/notesMaster" Target="/ppt/notesMasters/notesMaster1.xml" Id="R35260cf99e0e4c86" /><Relationship Type="http://schemas.openxmlformats.org/officeDocument/2006/relationships/presProps" Target="/ppt/presProps.xml" Id="Rfd96750cd4eb4cf3" /><Relationship Type="http://schemas.openxmlformats.org/officeDocument/2006/relationships/tableStyles" Target="/ppt/tableStyles.xml" Id="R3476aa8fc3b84ff2" /><Relationship Type="http://schemas.openxmlformats.org/officeDocument/2006/relationships/slide" Target="/ppt/slides/slide1.xml" Id="R678bb24e26694430" /><Relationship Type="http://schemas.openxmlformats.org/officeDocument/2006/relationships/slide" Target="/ppt/slides/slide2.xml" Id="R0967a092dee146d2" /><Relationship Type="http://schemas.openxmlformats.org/officeDocument/2006/relationships/slide" Target="/ppt/slides/slide3.xml" Id="R9274ffec8d0d49b7" /><Relationship Type="http://schemas.openxmlformats.org/officeDocument/2006/relationships/slide" Target="/ppt/slides/slide4.xml" Id="R84cce3272f184c40" /><Relationship Type="http://schemas.openxmlformats.org/officeDocument/2006/relationships/slide" Target="/ppt/slides/slide5.xml" Id="Rd2b09add538147c5" /><Relationship Type="http://schemas.openxmlformats.org/officeDocument/2006/relationships/slide" Target="/ppt/slides/slide6.xml" Id="Ra9d426f34bbd437e" /><Relationship Type="http://schemas.openxmlformats.org/officeDocument/2006/relationships/slide" Target="/ppt/slides/slide7.xml" Id="R63b2b01342ff45f2" /><Relationship Type="http://schemas.openxmlformats.org/officeDocument/2006/relationships/slide" Target="/ppt/slides/slide8.xml" Id="Rbd16ef8ee4ec47eb" /><Relationship Type="http://schemas.openxmlformats.org/officeDocument/2006/relationships/slide" Target="/ppt/slides/slide9.xml" Id="R68b943679ae848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1f5a096b524c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815a622fc640d4" /><Relationship Type="http://schemas.openxmlformats.org/officeDocument/2006/relationships/notesMaster" Target="/ppt/notesMasters/notesMaster1.xml" Id="Rf7d06c2a3ac147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a355e28ce94b72" /><Relationship Type="http://schemas.openxmlformats.org/officeDocument/2006/relationships/notesMaster" Target="/ppt/notesMasters/notesMaster1.xml" Id="R3195f1b4dd994d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b85e4edecd499c" /><Relationship Type="http://schemas.openxmlformats.org/officeDocument/2006/relationships/notesMaster" Target="/ppt/notesMasters/notesMaster1.xml" Id="Re634ba22f96c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ea6348b66f4106" /><Relationship Type="http://schemas.openxmlformats.org/officeDocument/2006/relationships/notesMaster" Target="/ppt/notesMasters/notesMaster1.xml" Id="R7b6b3d7fc41545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8c571810a146c1" /><Relationship Type="http://schemas.openxmlformats.org/officeDocument/2006/relationships/notesMaster" Target="/ppt/notesMasters/notesMaster1.xml" Id="R62df3dec2c284f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ed6719db104dda" /><Relationship Type="http://schemas.openxmlformats.org/officeDocument/2006/relationships/notesMaster" Target="/ppt/notesMasters/notesMaster1.xml" Id="R7f549ee506fe49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45d8f33ef04ef2" /><Relationship Type="http://schemas.openxmlformats.org/officeDocument/2006/relationships/notesMaster" Target="/ppt/notesMasters/notesMaster1.xml" Id="R4d7776844a65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519c49c01c4e6c" /><Relationship Type="http://schemas.openxmlformats.org/officeDocument/2006/relationships/notesMaster" Target="/ppt/notesMasters/notesMaster1.xml" Id="R10d9ad6fa81c4a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73d58b75384bb1" /><Relationship Type="http://schemas.openxmlformats.org/officeDocument/2006/relationships/notesMaster" Target="/ppt/notesMasters/notesMaster1.xml" Id="Ra4786ddb7a8845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오프닝은 기능 나열보다 서비스가 해결하는 업무 리스크를 먼저 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src/main/webapp/resources/image/logo.png</a:t>
            </a:r>
          </a:p>
          <a:p xmlns:a="http://schemas.openxmlformats.org/drawingml/2006/main">
            <a:r>
              <a:t>src/main/webapp/resources/image/기술동향.png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제기는 탐지 모델 자체보다 사용자/조직이 결과를 어떻게 활용하는지에 맞춥니다.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src/main/webapp/resources/image/피해사례.png</a:t>
            </a:r>
          </a:p>
          <a:p xmlns:a="http://schemas.openxmlformats.org/drawingml/2006/main">
            <a:r>
              <a:t>src/main/java/kopo/poly/service/impl/VerifyService.java</a:t>
            </a:r>
          </a:p>
          <a:p xmlns:a="http://schemas.openxmlformats.org/drawingml/2006/main">
            <a:r>
              <a:t>src/main/java/kopo/poly/service/impl/VerificationAnalysisBuilder.java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프로젝트 범위를 한 문장으로 정의합니다. 임원 관점의 평가 기준은 구현 범위와 사용 흐름의 완성도입니다.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src/main/java/kopo/poly/controller/VerifyController.java</a:t>
            </a:r>
          </a:p>
          <a:p xmlns:a="http://schemas.openxmlformats.org/drawingml/2006/main">
            <a:r>
              <a:t>src/main/java/kopo/poly/controller/api/VerificationApiController.java</a:t>
            </a:r>
          </a:p>
          <a:p xmlns:a="http://schemas.openxmlformats.org/drawingml/2006/main">
            <a:r>
              <a:t>src/main/java/kopo/poly/service/impl/CommunityService.java</a:t>
            </a:r>
          </a:p>
          <a:p xmlns:a="http://schemas.openxmlformats.org/drawingml/2006/main">
            <a:r>
              <a:t>src/main/java/kopo/poly/service/impl/NewsService.java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프로세스 설명은 업로드-분석-결과-기록으로 단순화해서 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src/main/java/kopo/poly/controller/UploadController.java</a:t>
            </a:r>
          </a:p>
          <a:p xmlns:a="http://schemas.openxmlformats.org/drawingml/2006/main">
            <a:r>
              <a:t>src/main/java/kopo/poly/controller/VerifyController.java</a:t>
            </a:r>
          </a:p>
          <a:p xmlns:a="http://schemas.openxmlformats.org/drawingml/2006/main">
            <a:r>
              <a:t>src/main/java/kopo/poly/service/impl/VerifyService.java</a:t>
            </a:r>
          </a:p>
          <a:p xmlns:a="http://schemas.openxmlformats.org/drawingml/2006/main">
            <a:r>
              <a:t>src/main/resources/mapper/VerifyMapper.xml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아키텍처 슬라이드는 기술명보다 ‘교체 가능성’과 ‘배포 가능성’을 강조합니다.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build.gradle</a:t>
            </a:r>
          </a:p>
          <a:p xmlns:a="http://schemas.openxmlformats.org/drawingml/2006/main">
            <a:r>
              <a:t>src/main/resources/application.properties</a:t>
            </a:r>
          </a:p>
          <a:p xmlns:a="http://schemas.openxmlformats.org/drawingml/2006/main">
            <a:r>
              <a:t>src/main/java/kopo/poly/service/IDeepfakeClient.java</a:t>
            </a:r>
          </a:p>
          <a:p xmlns:a="http://schemas.openxmlformats.org/drawingml/2006/main">
            <a:r>
              <a:t>src/main/java/kopo/poly/service/impl/RealityDefenderClient.java</a:t>
            </a:r>
          </a:p>
          <a:p xmlns:a="http://schemas.openxmlformats.org/drawingml/2006/main">
            <a:r>
              <a:t>src/main/java/kopo/poly/service/impl/ImdDeepfakeClient.java</a:t>
            </a:r>
          </a:p>
          <a:p xmlns:a="http://schemas.openxmlformats.org/drawingml/2006/main">
            <a:r>
              <a:t>src/main/java/kopo/poly/service/impl/S3ObjectStorageService.java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결과는 상태 정규화, 점수 정규화, 히트맵/영역 설명으로 구성됩니다.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src/main/java/kopo/poly/service/impl/RealityDefenderClient.java</a:t>
            </a:r>
          </a:p>
          <a:p xmlns:a="http://schemas.openxmlformats.org/drawingml/2006/main">
            <a:r>
              <a:t>src/main/java/kopo/poly/service/impl/ImdHeatmapClient.java</a:t>
            </a:r>
          </a:p>
          <a:p xmlns:a="http://schemas.openxmlformats.org/drawingml/2006/main">
            <a:r>
              <a:t>src/main/java/kopo/poly/service/impl/VerificationAnalysisBuilder.java</a:t>
            </a:r>
          </a:p>
          <a:p xmlns:a="http://schemas.openxmlformats.org/drawingml/2006/main">
            <a:r>
              <a:t>src/main/webapp/resources/image/대응방법.png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임원 보고에서는 보안 구현을 깊게 파지 말고 ‘개인정보/기록/외부 요청을 어떻게 보호했는지’로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src/main/java/kopo/poly/service/impl/AuthService.java</a:t>
            </a:r>
          </a:p>
          <a:p xmlns:a="http://schemas.openxmlformats.org/drawingml/2006/main">
            <a:r>
              <a:t>src/main/java/kopo/poly/controller/api/VerificationApiController.java</a:t>
            </a:r>
          </a:p>
          <a:p xmlns:a="http://schemas.openxmlformats.org/drawingml/2006/main">
            <a:r>
              <a:t>src/main/java/kopo/poly/config/OriginProtectionFilter.java</a:t>
            </a:r>
          </a:p>
          <a:p xmlns:a="http://schemas.openxmlformats.org/drawingml/2006/main">
            <a:r>
              <a:t>src/main/java/kopo/poly/service/impl/S3ObjectStorageService.java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탐지 기능만 있으면 일회성 도구로 보일 수 있습니다. 뉴스와 커뮤니티는 서비스 지속 사용 이유로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src/main/java/kopo/poly/service/impl/NewsService.java</a:t>
            </a:r>
          </a:p>
          <a:p xmlns:a="http://schemas.openxmlformats.org/drawingml/2006/main">
            <a:r>
              <a:t>src/main/java/kopo/poly/service/impl/CommunityService.java</a:t>
            </a:r>
          </a:p>
          <a:p xmlns:a="http://schemas.openxmlformats.org/drawingml/2006/main">
            <a:r>
              <a:t>src/main/webapp/resources/image/범죄사례.png</a:t>
            </a:r>
          </a:p>
          <a:p xmlns:a="http://schemas.openxmlformats.org/drawingml/2006/main">
            <a:r>
              <a:t>src/main/webapp/resources/image/법률규제.png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마무리는 이미 구현된 범위와 다음 고도화 과제를 분리해서 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deploy/aws-deploy-guide.md</a:t>
            </a:r>
          </a:p>
          <a:p xmlns:a="http://schemas.openxmlformats.org/drawingml/2006/main">
            <a:r>
              <a:t>deploy/imd-docker-ghcr-guide.md</a:t>
            </a:r>
          </a:p>
          <a:p xmlns:a="http://schemas.openxmlformats.org/drawingml/2006/main">
            <a:r>
              <a:t>docker-compose.imd.yml</a:t>
            </a:r>
          </a:p>
          <a:p xmlns:a="http://schemas.openxmlformats.org/drawingml/2006/main">
            <a:r>
              <a:t>deploy/docker-compose.imd.prod.yml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bd4e8e8c14b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93cdb4c8b14994" /><Relationship Type="http://schemas.openxmlformats.org/officeDocument/2006/relationships/slideLayout" Target="/ppt/slideLayouts/slideLayout1.xml" Id="R9768f7b1ecdd44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68f7b1ecdd44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ef4af623d4e89" /><Relationship Type="http://schemas.openxmlformats.org/officeDocument/2006/relationships/image" Target="/ppt/media/image.png" Id="R7627080024494dec" /><Relationship Type="http://schemas.openxmlformats.org/officeDocument/2006/relationships/image" Target="/ppt/media/image2.png" Id="Re704f086466e4e44" /><Relationship Type="http://schemas.openxmlformats.org/officeDocument/2006/relationships/notesSlide" Target="/ppt/notesSlides/notesSlide1.xml" Id="R3e9f19412fb040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fa04ac0d74830" /><Relationship Type="http://schemas.openxmlformats.org/officeDocument/2006/relationships/image" Target="/ppt/media/image3.png" Id="R92fbf36fd69f4a7a" /><Relationship Type="http://schemas.openxmlformats.org/officeDocument/2006/relationships/notesSlide" Target="/ppt/notesSlides/notesSlide2.xml" Id="Re99cce1e85a84d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2138ac9e34c16" /><Relationship Type="http://schemas.openxmlformats.org/officeDocument/2006/relationships/notesSlide" Target="/ppt/notesSlides/notesSlide3.xml" Id="Rcae163f9e8be46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648d823ad429e" /><Relationship Type="http://schemas.openxmlformats.org/officeDocument/2006/relationships/notesSlide" Target="/ppt/notesSlides/notesSlide4.xml" Id="R436a51425dd145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9b42ceede4359" /><Relationship Type="http://schemas.openxmlformats.org/officeDocument/2006/relationships/notesSlide" Target="/ppt/notesSlides/notesSlide5.xml" Id="Rdc3ca9961a8840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eeee4af0542f3" /><Relationship Type="http://schemas.openxmlformats.org/officeDocument/2006/relationships/image" Target="/ppt/media/image4.png" Id="R73ec3ac7fd684423" /><Relationship Type="http://schemas.openxmlformats.org/officeDocument/2006/relationships/notesSlide" Target="/ppt/notesSlides/notesSlide6.xml" Id="R170e1e90b29143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d741b89bc4a83" /><Relationship Type="http://schemas.openxmlformats.org/officeDocument/2006/relationships/notesSlide" Target="/ppt/notesSlides/notesSlide7.xml" Id="R88fde0c4713641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ed96f98a34d2c" /><Relationship Type="http://schemas.openxmlformats.org/officeDocument/2006/relationships/image" Target="/ppt/media/image5.png" Id="R04cfa0a7c0c84555" /><Relationship Type="http://schemas.openxmlformats.org/officeDocument/2006/relationships/image" Target="/ppt/media/image6.png" Id="Re3f76e1609544a1f" /><Relationship Type="http://schemas.openxmlformats.org/officeDocument/2006/relationships/notesSlide" Target="/ppt/notesSlides/notesSlide8.xml" Id="R64b8e1215a8749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2b541b185436b" /><Relationship Type="http://schemas.openxmlformats.org/officeDocument/2006/relationships/notesSlide" Target="/ppt/notesSlides/notesSlide9.xml" Id="R2c044fabf4e04f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DEF74-A1EE-4A78-98DD-F918089A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7080024494dec"/>
          <a:stretch xmlns:a="http://schemas.openxmlformats.org/drawingml/2006/main"/>
        </p:blipFill>
        <p:spPr>
          <a:xfrm xmlns:a="http://schemas.openxmlformats.org/drawingml/2006/main">
            <a:off x="702240" y="533400"/>
            <a:ext cx="767219" cy="800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49102-5E6F-4503-A50C-CC1816EA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DeepScan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DE8A3-01CE-4EC3-93B6-862E3584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B5563"/>
                </a:solidFill>
              </a:defRPr>
            </a:pPr>
            <a:r>
              <a:rPr sz="2025" b="0">
                <a:solidFill>
                  <a:srgbClr val="4B5563"/>
                </a:solidFill>
              </a:rPr>
              <a:t>딥페이크 이미지 검증과 대응을 하나의 서비스 흐름으로 연결한 웹 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B90F4-85CB-4995-88AF-45680D9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프로젝트 발표회 | 이사급 보고용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4f086466e4e44"/>
          <a:srcRect xmlns:a="http://schemas.openxmlformats.org/drawingml/2006/main" l="8333" t="0" r="8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800100"/>
            <a:ext cx="4381500" cy="5257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516D1-12AA-4033-9401-07C4BDC0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1692B-950D-46D5-97CE-A5987E6B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0212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AE4CD-D051-4430-B958-9A6B73CB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문제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B7F16-A9A6-4955-B918-B7D950E6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6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딥페이크 리스크는 탐지보다 대응 흐름이 더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BDA4B-DFCE-40DA-A167-DE640EBB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bf36fd69f4a7a"/>
          <a:srcRect xmlns:a="http://schemas.openxmlformats.org/drawingml/2006/main" l="0" t="3431" r="0" b="3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38862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98AE7-644F-4C29-87D8-376AC0D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335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현장의 어려움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5BE08-7C2E-4028-89EC-6F1B7557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6A513-2ED9-4AE2-B8E8-899F89A6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이미지 진위 확인 요청이 발생해도 결과를 저장하고 다시 설명할 체계가 부족합니다.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3230B-1AC0-46C0-9F4A-689A7B8F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8303A-E2B3-4CD9-81B0-8F895FEB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861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탐지 결과가 점수로만 끝나면 비전문 사용자는 다음 행동을 결정하기 어렵습니다.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AAD43-0486-4940-BC44-355AE2A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83216-6D64-4548-9A97-4CADED13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9095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최신 사례와 예방 정보를 함께 제공하지 않으면 서비스 사용 맥락이 약해집니다.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6E47D-76DD-4135-9C28-89A92E49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00600"/>
            <a:ext cx="556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DeepScan의 초점은 단발성 판별이 아니라 검증 기록, 근거 시각화, 정보 공유까지 이어지는 대응 체계입니다.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B6F58-757B-4945-BACF-E99E335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CE58B-FCA0-4A2C-9675-2CA2230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3280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D7DB7-A9B4-457A-A625-79CF297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솔루션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2150D-BD18-4667-B952-B173F9C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6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서비스는 검증, 설명, 학습, 공유를 한 흐름으로 묶었습니다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5D237-9BAC-4D2B-8D6E-6959AF54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F9371-3197-43CB-AF7B-C8E1087B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83947-CAD0-4411-A43B-DE74E0D6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E3A0E-ACB9-4786-B9E9-B24436C5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이미지 업로드 및 AI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BFA45-0B20-4F9F-B8F1-6EEA17EA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90700"/>
            <a:ext cx="2324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1BA86-2DBB-4350-8288-01E88DDE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7DC4B-2DF3-4C39-89AF-9E0F4B83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히트맵/의심 영역 기반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0F919-728D-4F35-848E-3621C6F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90700"/>
            <a:ext cx="2324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2539E-8623-428D-8A36-5641E92E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학습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22192-95C8-4D86-9634-EAF8DBD9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뉴스/FAQ로 위험 맥락 제공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AAD93-9FC6-475A-BCFF-F3667950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324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E876D-8FB6-4CC4-9974-55AD7CC7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193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공유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545F2-7EA9-4F4A-BF52-EB5AA828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커뮤니티와 이력으로 후속 대응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C2D0F-EFC0-4141-AF37-9E34237B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994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8C12D-4C95-4E34-A20A-A9579EBB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핵심 메시지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7B141-8572-4EDB-B440-953E0ED1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DeepScan은 탐지 API를 화면에 붙인 프로젝트가 아니라, 사용자가 결과를 이해하고 기록하며 재확인할 수 있게 만든 서비스형 웹 애플리케이션입니다.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5C268-5322-4150-A803-C1630B24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144C9-F646-46C8-8083-5F8B8878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5465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1C915-5249-45F0-AED8-AEF3C65A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사용자 여정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9F115-AD5A-4689-8AB2-D45EDB9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6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사용자는 업로드부터 이력 확인까지 끊기지 않게 이동합니다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C897E-AD56-4085-9C96-0B71961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C8FDA-BB38-4188-8A7B-612EF11E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29CB5-138C-48BD-BF4E-119334D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6FFD9-2BE4-457D-95F4-57C5671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1. 업로드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C7597-9CBD-409A-889A-46504399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이미지 파일 검증과 분석 요청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635E7-F0BC-4297-B598-D53335D7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8FBA6-A817-4A9A-97CB-B5E34A61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F88B6-964E-4221-82F2-F8D4F86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3196D-5D4C-46E8-BD7F-C7DE93F7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098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2.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09475-2DC4-4082-BDE0-16E7129C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527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Reality Defender 또는 IMD 클라이언트 호출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1E37E-6611-48D6-9807-11949B4C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9F29D-7CEE-46B8-A055-6B1CFEE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994B5-709B-46FD-B304-12D570A1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F52DA-31BB-488A-BCF0-2ED4D32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098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3.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73354-E95A-447C-BFFD-7F59B8B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점수, 판정, 설명, 히트맵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E680F-09F0-4CA2-8A06-BBB1B3B6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FD32A-05E7-4BAA-8A8C-8487812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90B16-7738-4588-9C18-50C55100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628C5-7609-4BD5-BB23-366BB68B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4.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C3073-2D07-46B6-B1EF-3DF94F89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527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상세 조회, 이력 관리, 삭제 API 제공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0B495-65DA-4E88-8E61-56F7744F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201AE-8232-4750-AC9C-04E578E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434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사용자 가치는 ‘AI가 판별했다’가 아니라 ‘왜 그렇게 판단했는지 보고, 나중에 다시 확인할 수 있다’는 점입니다.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62DC2-1CA7-4414-9385-0563C80F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ADA3A-EF18-425B-8337-51165598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3602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15426B-05F6-4BD8-802E-327A14C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구현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6D1C6-6EE4-4483-A8B8-7BE39A0B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6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아키텍처는 외부 AI와 로컬 분석을 교체 가능한 계층으로 분리했습니다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9E7A6-A107-4754-ACDF-A79EBFF2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D66F1-88C8-4F81-9455-9B5EA72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9DEEE-7CAC-4F4A-820F-273100E1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27E7F-07C7-4017-9FEC-E3814B0F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JSP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D70B5-E293-4B79-80EE-B9D8E248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업로드, 결과, 이력, 뉴스, 커뮤니티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3FD5B-3D95-47B6-9AE8-B7EFA7B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1DA3E-5FCC-4242-A680-BCA58E1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7F9A6-1056-4021-91D7-2420F73D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80451-7F5A-4231-817F-7AFC0488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Spring 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D1613-CF54-4C26-8C4D-B51FF60C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Controller / Service / DTO / MyBatis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2F046-3210-4721-92A8-5B95F37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8A466-9AD2-44B3-B2C7-34095542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C4991-BB12-413D-A13E-A3D87B51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F32CF-8D72-4F9E-BC3E-2882FADA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AI Adapter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6C649-E5DC-4ACC-B586-A3ED1C7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Reality Defender, IMD, Dummy 모드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06B79-ED21-44FC-970D-0B4D3D01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32287-A4A8-4DA2-A585-F5298D6B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B7AF0-39F2-4D1F-A5CB-8E40C27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53EDC-D1E9-4A70-9198-93FF96CC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MariaDB, MongoDB, S3 또는 로컬 파일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9A16F-CCDB-4DBB-A32B-D86D7187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운영 관점의 장점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17410-1F4C-4E24-8299-D3A9A03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884A8-5306-4B47-A85B-6D52002F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57800"/>
            <a:ext cx="864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분석기는 설정으로 교체할 수 있어 외부 API 장애나 비용 조건 변화에 대응 가능합니다.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7FDD1-11FC-4C83-AB17-08FA549F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1EA7E-5896-4695-A251-5D7FF52D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91200"/>
            <a:ext cx="864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파일 저장은 local/S3를 분기하고, 배포는 EC2/RDS와 Docker 기반 IMD 서비스까지 문서화했습니다.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6346C-8169-490B-92E0-B227942F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549755-5024-4147-A228-A09A49AD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7003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0A95E-5B80-44B2-A34B-D8CAF7B9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분석 결과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9908C-93BD-4F1D-BD60-2D6FB3FE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6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탐지 결과는 점수와 위치 근거를 함께 보여주도록 설계했습니다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50F2D-A851-40A5-96AE-08A2BFAF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56F40-2CDE-4DEA-A9E0-46F04E29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8006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CD76B-9415-44F4-80A9-CB63DB32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판정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16C6-C9A3-4F48-B067-BBB59BBE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9F1F7-8D46-4BC2-81C6-787A8B88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REAL / SUSPICIOUS / FAKE / NOT_APPLICABLE 상태로 정규화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D4E44-B703-4FE1-9DA7-8D95D69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61F23-F2C4-4524-9C65-275A7814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0~1 또는 0~100 점수를 화면용 위험 점수로 변환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0BBFB-9F0D-4641-A58B-62858976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8FD7D-F7E0-43F8-AA6C-31624346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814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얼굴이 작거나 없는 이미지는 분석 불가로 분리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c3ac7fd684423"/>
          <a:srcRect xmlns:a="http://schemas.openxmlformats.org/drawingml/2006/main" l="0" t="12398" r="0" b="12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771650"/>
            <a:ext cx="4686300" cy="3524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CE8DB-F6B0-4495-AA4A-1F337E0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2450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이 설계는 ‘모델 결과를 그대로 노출’하는 대신 사용자가 이해할 수 있는 판정 언어와 후속 권고로 바꾸는 데 초점을 둡니다.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AF2AE-642A-47F8-ABE1-9374297F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96AF4-0F37-4FD6-AE80-41752438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0040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39AE1-EC2B-496E-9BA6-BD6112AF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운영 신뢰성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EB416-FD0D-475B-B3D2-E88912EC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6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서비스 신뢰성은 인증, 권한, 저장소, 출처 검증으로 보강했습니다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71400-4CC5-4202-8235-A07DEB65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A2742-CD46-484C-8016-89CAB756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57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92F3E-FCE1-4DC0-9A3C-D15FC6E9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계정 보호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E5FA5-DA70-4BCF-827B-853EB439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BCrypt 저장, 레거시 SHA-256 마이그레이션, 이메일 인증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E4319-DBAA-4A5D-896B-5F78B566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57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0928A-C045-4567-A9F2-60FD8D0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</a:defRPr>
            </a:pPr>
            <a:r>
              <a:rPr sz="1800" b="1">
                <a:solidFill>
                  <a:srgbClr val="16A34A"/>
                </a:solidFill>
              </a:rPr>
              <a:t>접근 제어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6F948-8E35-486A-B54C-37159852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세션 기반 본인 검증 기록 조회와 삭제 제한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7BBB0-A812-4A2F-80B6-F9ADE333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57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127BE-9B85-4D5C-8262-60F5E336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요청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7F6C5-4790-43DE-8763-415EFF0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상태 변경 요청에 Origin/Referer 검증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D1C21-AE58-41F7-9477-39053DEF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457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7D54D-010E-4E56-81CF-17D1629C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저장소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940F3-5DDD-4DA6-9D9C-482DB75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로컬 업로드 또는 S3 공개 URL 방식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9AA9A-DE99-4103-8702-78F68B18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168DF-C9FF-4CDA-95CA-22AE7B9D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1233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55149-DA63-4626-A0C0-3AC212C6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확장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3E372-AA43-4D26-9A36-737F05B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6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부가 기능은 탐지 이후의 학습과 대응 지속성을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AA681-254F-430B-99A1-B1076C81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fa0a7c0c84555"/>
          <a:srcRect xmlns:a="http://schemas.openxmlformats.org/drawingml/2006/main" l="5405" t="0" r="54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3143250" cy="35242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76e1609544a1f"/>
          <a:srcRect xmlns:a="http://schemas.openxmlformats.org/drawingml/2006/main" l="5405" t="0" r="54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695450"/>
            <a:ext cx="314325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2A2B6-8F19-4736-AA61-63F7DC39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857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3E260-8CAF-4253-A1D2-363BC3B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76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뉴스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E0643-633C-450C-BD2A-E9E5EBA9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Naver News API 기반 검색, 중복 제거, MongoDB 캐시로 최신 위험 사례를 제공합니다.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E6498-FE84-4E24-9324-050DEDE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커뮤니티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EF644-272B-4D73-ADB0-8CBB08D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8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게시글, 댓글, 좋아요 기능으로 사용자 간 사례 공유와 토론 흐름을 지원합니다.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A2098-50D4-4861-AB66-A98CE075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85104-9E75-4D14-9D36-88A1CE0D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5426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B5642-94F6-48DF-8A04-9366D875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결론 및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1EAA8-486C-4955-894F-55BF1FD0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6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다음 단계는 모델 품질 검증과 운영 자동화입니다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C34D6-89B8-434E-BDC4-52234138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B2815-EA11-4EF7-8E81-6BF0F200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6ABE3-B1BE-45AD-9314-868EF6DA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MVP 완성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D1A6-4098-4380-91EF-0B660ED3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현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7C2C5-E450-41B6-BC10-EE13D8FC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240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28D09-9700-4059-89AB-070A9AEB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배포 문서화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72645-217F-4C03-819A-BB45AE6E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운영 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54452-F7BD-4D56-ADF6-4A1536AA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EE90A-DF3D-4ECA-9F57-82BB7745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품질/로그/권한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03684-F269-43E1-89DA-0136841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고도화 방향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93B8D-993B-4670-B74E-D258FD7F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979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EB250-EF1B-4A58-B16C-0DF61A3E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672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결론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CB53B-250A-4368-9B30-260BA731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481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DeepScan은 딥페이크 위험을 ‘탐지 결과’에서 끝내지 않고, 사용자가 이해하고 기록하고 공유할 수 있는 서비스 흐름으로 확장했습니다.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1EC38-1776-4162-AE16-729061CE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DeepScan 프로젝트 발표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CEFF4-87D0-446C-8107-EC1DF2B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47272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2026-08-18T01:44:58.7320000Z</dcterms:created>
  <dcterms:modified xsi:type="dcterms:W3CDTF">2026-08-18T01:44:58.7320000Z</dcterms:modified>
</coreProperties>
</file>